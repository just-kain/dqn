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16"/>
  </p:notesMasterIdLst>
  <p:sldIdLst>
    <p:sldId id="256" r:id="rId2"/>
    <p:sldId id="269" r:id="rId3"/>
    <p:sldId id="268" r:id="rId4"/>
    <p:sldId id="270" r:id="rId5"/>
    <p:sldId id="271" r:id="rId6"/>
    <p:sldId id="272" r:id="rId7"/>
    <p:sldId id="273" r:id="rId8"/>
    <p:sldId id="274" r:id="rId9"/>
    <p:sldId id="280" r:id="rId10"/>
    <p:sldId id="275" r:id="rId11"/>
    <p:sldId id="276" r:id="rId12"/>
    <p:sldId id="277" r:id="rId13"/>
    <p:sldId id="278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673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02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08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32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7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45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39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9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38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23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2433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02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786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826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01000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1221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77647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2014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92677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84309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2758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02788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4152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7965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756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91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 smtClean="0">
                <a:solidFill>
                  <a:srgbClr val="4FC3F7"/>
                </a:solidFill>
                <a:latin typeface="Calibri" pitchFamily="34" charset="0"/>
                <a:cs typeface="Calibri" pitchFamily="34" charset="-120"/>
              </a:rPr>
              <a:t>DDQN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</a:t>
            </a:r>
            <a:r>
              <a:rPr lang="en-US" sz="2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0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агента</a:t>
            </a:r>
            <a:r>
              <a:rPr lang="en-US" sz="2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прохождения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процедурно-генерируемых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 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Мигачев И.П.  |  МГУ им. Н.П. Огарёва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 цель работы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2900" y="859536"/>
            <a:ext cx="2743200" cy="182880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961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1719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Прорыв DQN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0391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DeepMind: 49/57 игр Atari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уровне человека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841248"/>
            <a:ext cx="2743200" cy="182880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8961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91840" y="1719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Появление DDQN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0391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Устранение overestimation bias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max → double trick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841248"/>
            <a:ext cx="2743200" cy="182880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8961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3800" b="1" dirty="0" smtClean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172200" y="1719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Курикулум проекта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20391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16×16 без врагов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финальной карты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816352"/>
            <a:ext cx="8503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926080"/>
            <a:ext cx="82296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работы:  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методы обучения с подкреплением (Q-Learning, DQN, Double DQN) и применить их для создания агента, способного проходить процедурно-генерируемые подземелья. Исследовать влияние курикулумного обучения, формы наград и стратегии исследования на сходимость и качество обученной политики.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04169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39" y="822960"/>
            <a:ext cx="4128207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3657600" cy="1770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r>
              <a:rPr lang="ru-RU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r>
              <a:rPr lang="ru-RU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или обучение с </a:t>
            </a:r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подкреплением </a:t>
            </a:r>
            <a:r>
              <a:rPr lang="ru-RU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это метод машинного обучения, при котором компьютерная программа (агент) обучается самостоятельно решать задачу методом проб и ошибок, взаимодействуя с динамической средой. Программа получает награду за правильные действия и штраф за ошибки, стремясь максимизировать суммарный доход.</a:t>
            </a:r>
            <a:endParaRPr lang="en-US" sz="1100" dirty="0"/>
          </a:p>
        </p:txBody>
      </p:sp>
      <p:sp>
        <p:nvSpPr>
          <p:cNvPr id="13" name="Text 6"/>
          <p:cNvSpPr/>
          <p:nvPr/>
        </p:nvSpPr>
        <p:spPr>
          <a:xfrm>
            <a:off x="505842" y="2657775"/>
            <a:ext cx="35603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1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основе RL лежат три ключевых элемента:</a:t>
            </a:r>
            <a:endParaRPr lang="en-US" sz="1100" dirty="0"/>
          </a:p>
        </p:txBody>
      </p:sp>
      <p:sp>
        <p:nvSpPr>
          <p:cNvPr id="14" name="Text 6"/>
          <p:cNvSpPr/>
          <p:nvPr/>
        </p:nvSpPr>
        <p:spPr>
          <a:xfrm>
            <a:off x="685801" y="3060488"/>
            <a:ext cx="3560316" cy="1319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(</a:t>
            </a:r>
            <a:r>
              <a:rPr lang="ru-RU" sz="110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r>
              <a:rPr lang="ru-RU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ИИ, принимающий решения и совершающий действия</a:t>
            </a:r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 smtClean="0">
              <a:solidFill>
                <a:srgbClr val="1A25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/>
              <a:t>Среда (</a:t>
            </a:r>
            <a:r>
              <a:rPr lang="ru-RU" sz="1100" dirty="0" err="1"/>
              <a:t>Environment</a:t>
            </a:r>
            <a:r>
              <a:rPr lang="ru-RU" sz="1100" dirty="0"/>
              <a:t>): Окружение, в котором находится агент и с которым он </a:t>
            </a:r>
            <a:r>
              <a:rPr lang="ru-RU" sz="1100" dirty="0" smtClean="0"/>
              <a:t>взаимодействует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/>
              <a:t>Награда (</a:t>
            </a:r>
            <a:r>
              <a:rPr lang="ru-RU" sz="1100" dirty="0" err="1"/>
              <a:t>Reward</a:t>
            </a:r>
            <a:r>
              <a:rPr lang="ru-RU" sz="1100" dirty="0"/>
              <a:t>): Обратная связь от среды</a:t>
            </a:r>
            <a:endParaRPr lang="en-US" sz="1100" dirty="0"/>
          </a:p>
        </p:txBody>
      </p:sp>
      <p:pic>
        <p:nvPicPr>
          <p:cNvPr id="1026" name="Picture 2" descr="https://blog.skillfactory.ru/wp-content/uploads/2024/05/algoritm-rl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6" t="8669" r="12737" b="8382"/>
          <a:stretch/>
        </p:blipFill>
        <p:spPr bwMode="auto">
          <a:xfrm>
            <a:off x="4738380" y="1218283"/>
            <a:ext cx="4185613" cy="2774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9288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41248"/>
            <a:ext cx="3566160" cy="374904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914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Игровой движок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.NET 8 / SFML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719072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BSP-генерация карт (16×16 → 64×64)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ru-RU" sz="12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Враги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BFS-шейпинг наград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AI-протокол: stdin/stdout JSON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Воспроизводимость по seed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50208" y="2468880"/>
            <a:ext cx="1243584" cy="54864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50208" y="2834640"/>
            <a:ext cx="1243584" cy="5486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09060" y="219456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</a:t>
            </a:r>
            <a:r>
              <a:rPr lang="en-US" sz="900" dirty="0" smtClean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13632" y="29260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+ reward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57800" y="841248"/>
            <a:ext cx="3566160" cy="374904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49240" y="914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DQN-агент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PyTorch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94960" y="1719072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Нейросеть: 1157 → 512 → 256 → 7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 (200 000 переходов)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/ DQN / Double DQN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Курикулумный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ru-RU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стагнации (eps-bump)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93070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Игровой движок — BSP-карты и враги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05883" y="838086"/>
            <a:ext cx="3931920" cy="3933419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71173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карт (BSP)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43043" y="1171018"/>
            <a:ext cx="3657600" cy="1605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Заполнение</a:t>
            </a:r>
            <a:r>
              <a:rPr lang="en-US" sz="12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пространства стенами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BSP-</a:t>
            </a:r>
            <a:r>
              <a:rPr lang="en-US" sz="12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разбиение</a:t>
            </a:r>
            <a:r>
              <a:rPr lang="en-US" sz="12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листовые секции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Вырезание</a:t>
            </a:r>
            <a:r>
              <a:rPr lang="en-US" sz="12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 внутри секций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Г-</a:t>
            </a:r>
            <a:r>
              <a:rPr lang="en-US" sz="12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образные</a:t>
            </a:r>
            <a:r>
              <a:rPr lang="en-US" sz="12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коридоры между соседями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выход → макс. удалённая точка → игрок</a:t>
            </a:r>
            <a:endParaRPr lang="en-US" sz="1200" dirty="0"/>
          </a:p>
          <a:p>
            <a:pPr marL="0" indent="0" algn="ctr">
              <a:buNone/>
            </a:pPr>
            <a:endParaRPr lang="en-US" sz="1200" i="1" dirty="0" smtClean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</a:t>
            </a:r>
            <a:r>
              <a:rPr lang="en-US" sz="12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= одна </a:t>
            </a:r>
            <a:r>
              <a:rPr lang="en-US" sz="12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</a:t>
            </a: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80312" y="838086"/>
            <a:ext cx="3990109" cy="39334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852262"/>
            <a:ext cx="3595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</a:t>
            </a:r>
            <a:r>
              <a:rPr lang="en-US" sz="1400" b="1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врагов</a:t>
            </a:r>
            <a:r>
              <a:rPr lang="ru-RU" sz="1400" b="1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3226334"/>
            <a:ext cx="3595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Преследование: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при прямой </a:t>
            </a:r>
            <a:r>
              <a:rPr lang="en-US" sz="110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видимости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8 клеток 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Брезенхема)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4091688"/>
            <a:ext cx="3595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врагов </a:t>
            </a: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дробная</a:t>
            </a:r>
            <a:r>
              <a:rPr lang="en-US" sz="11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аккумулятор энергии, движение на шаге, </a:t>
            </a:r>
            <a:r>
              <a:rPr lang="en-US" sz="110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11480" y="3656932"/>
            <a:ext cx="3595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Атака: </a:t>
            </a:r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достижение игрока</a:t>
            </a:r>
            <a:endParaRPr lang="en-US" sz="11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097" y="981084"/>
            <a:ext cx="3682538" cy="36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21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Пространство наблюдений и действий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OBS_SIZE = 1157 (float32)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1554480" cy="324612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61871"/>
            <a:ext cx="1554480" cy="84159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25879"/>
            <a:ext cx="1463040" cy="1202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1089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2240279"/>
            <a:ext cx="1463040" cy="420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вид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578607"/>
            <a:ext cx="1463040" cy="1382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33×33 клетки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вокруг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игрока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1261872"/>
            <a:ext cx="1554480" cy="324612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57400" y="1261871"/>
            <a:ext cx="1554480" cy="84159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325879"/>
            <a:ext cx="1463040" cy="1202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103120" y="2240279"/>
            <a:ext cx="1463040" cy="420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Миникарта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578607"/>
            <a:ext cx="1463040" cy="1382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max-pool</a:t>
            </a:r>
            <a:endParaRPr lang="en-US" sz="1000" dirty="0"/>
          </a:p>
          <a:p>
            <a:pPr marL="0" indent="0" algn="ctr">
              <a:buNone/>
            </a:pPr>
            <a:r>
              <a:rPr lang="ru-RU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0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ыход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1261872"/>
            <a:ext cx="1554480" cy="324612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1261871"/>
            <a:ext cx="1554480" cy="84159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1325879"/>
            <a:ext cx="1463040" cy="1202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794760" y="2240279"/>
            <a:ext cx="1463040" cy="420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Скаляры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4760" y="2578607"/>
            <a:ext cx="1463040" cy="1382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HP/MaxHP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Δy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выходу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1353312"/>
            <a:ext cx="3291840" cy="28944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0" y="1444752"/>
            <a:ext cx="3017520" cy="275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b="1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действий агента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0" y="1901952"/>
            <a:ext cx="3063240" cy="2377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  Движение (↑ ↓ ← →)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   Удар дугой (3 клетки)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   Выстрел </a:t>
            </a:r>
            <a:r>
              <a:rPr lang="en-US" sz="120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лучом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вперёд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46074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 обучения с подкреплением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04672"/>
            <a:ext cx="2743200" cy="502920"/>
          </a:xfrm>
          <a:prstGeom prst="rect">
            <a:avLst/>
          </a:prstGeom>
          <a:solidFill>
            <a:srgbClr val="E57373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--algo qlearn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1525" y="2202041"/>
            <a:ext cx="2479687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буфера воспроизведения</a:t>
            </a:r>
            <a:endParaRPr lang="en-US" sz="1100" dirty="0"/>
          </a:p>
          <a:p>
            <a:pPr>
              <a:buSzPct val="100000"/>
            </a:pP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сети</a:t>
            </a:r>
            <a:endParaRPr lang="en-US" sz="1100" dirty="0"/>
          </a:p>
          <a:p>
            <a:pPr>
              <a:buSzPct val="100000"/>
            </a:pP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каждого шага</a:t>
            </a:r>
            <a:endParaRPr lang="en-US" sz="1100" dirty="0"/>
          </a:p>
          <a:p>
            <a:pPr>
              <a:buSzPct val="100000"/>
            </a:pP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Нестабильные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TODO-</a:t>
            </a: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</a:t>
            </a:r>
            <a:endParaRPr lang="en-US" sz="1100" dirty="0"/>
          </a:p>
          <a:p>
            <a:pPr>
              <a:buSzPct val="100000"/>
            </a:pP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Катастрофическое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забывание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40233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r + γ · maxₐ Q(s′,a;θ)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779734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1084" y="804672"/>
            <a:ext cx="2743200" cy="50292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841248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19272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--algo dqn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81955" y="2298885"/>
            <a:ext cx="2101457" cy="70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Буфер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переходов</a:t>
            </a:r>
            <a:endParaRPr lang="en-US" sz="1100" dirty="0"/>
          </a:p>
          <a:p>
            <a:pPr>
              <a:buSzPct val="100000"/>
            </a:pP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(sync / 500 шагов)</a:t>
            </a:r>
            <a:endParaRPr lang="en-US" sz="1100" dirty="0"/>
          </a:p>
          <a:p>
            <a:pPr>
              <a:buSzPct val="100000"/>
            </a:pP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 + γ · maxₐ Q_tgt(</a:t>
            </a:r>
            <a:r>
              <a:rPr lang="en-US" sz="110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s′,a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>
              <a:buSzPct val="100000"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9272" y="40233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= argmaxₐ Q_tgt(s′,a;θ⁻)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35624" y="804672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35624" y="804672"/>
            <a:ext cx="2743200" cy="502920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19" name="Text 17"/>
          <p:cNvSpPr/>
          <p:nvPr/>
        </p:nvSpPr>
        <p:spPr>
          <a:xfrm>
            <a:off x="6227064" y="841248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27064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--algo ddqn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76192" y="2216588"/>
            <a:ext cx="2487168" cy="735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</a:t>
            </a: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выбирает действие</a:t>
            </a:r>
            <a:endParaRPr lang="en-US" sz="1100" dirty="0"/>
          </a:p>
          <a:p>
            <a:pPr>
              <a:buSzPct val="100000"/>
            </a:pP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</a:t>
            </a: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оценивает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27064" y="411313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= argmaxₐ Q_online(s′,</a:t>
            </a:r>
            <a:r>
              <a:rPr lang="en-US" sz="10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a;θ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algn="ctr"/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a_out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en-US" sz="10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ₐ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Q_target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0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′,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*;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θ⁻)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4" name="Shape 2"/>
          <p:cNvSpPr/>
          <p:nvPr/>
        </p:nvSpPr>
        <p:spPr>
          <a:xfrm>
            <a:off x="320040" y="1705356"/>
            <a:ext cx="2743200" cy="502920"/>
          </a:xfrm>
          <a:prstGeom prst="rect">
            <a:avLst/>
          </a:prstGeom>
          <a:solidFill>
            <a:srgbClr val="E57373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25" name="Shape 2"/>
          <p:cNvSpPr/>
          <p:nvPr/>
        </p:nvSpPr>
        <p:spPr>
          <a:xfrm>
            <a:off x="3264408" y="2944784"/>
            <a:ext cx="2743200" cy="502920"/>
          </a:xfrm>
          <a:prstGeom prst="rect">
            <a:avLst/>
          </a:prstGeom>
          <a:solidFill>
            <a:srgbClr val="E57373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28" name="Text 3"/>
          <p:cNvSpPr/>
          <p:nvPr/>
        </p:nvSpPr>
        <p:spPr>
          <a:xfrm>
            <a:off x="411480" y="1741932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5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Минусы</a:t>
            </a:r>
            <a:endParaRPr lang="en-US" sz="1500" dirty="0"/>
          </a:p>
        </p:txBody>
      </p:sp>
      <p:sp>
        <p:nvSpPr>
          <p:cNvPr id="30" name="Text 3"/>
          <p:cNvSpPr/>
          <p:nvPr/>
        </p:nvSpPr>
        <p:spPr>
          <a:xfrm>
            <a:off x="3355848" y="1741932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1" name="Shape 9"/>
          <p:cNvSpPr/>
          <p:nvPr/>
        </p:nvSpPr>
        <p:spPr>
          <a:xfrm>
            <a:off x="3264408" y="1704109"/>
            <a:ext cx="2743200" cy="502920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32" name="Text 10"/>
          <p:cNvSpPr/>
          <p:nvPr/>
        </p:nvSpPr>
        <p:spPr>
          <a:xfrm>
            <a:off x="3355848" y="1732372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5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Нововведения</a:t>
            </a:r>
            <a:endParaRPr lang="en-US" sz="1500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3539505" y="3565986"/>
            <a:ext cx="206498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100000"/>
            </a:pPr>
            <a:r>
              <a:rPr lang="en-US" sz="110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Систематическое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завышение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</a:t>
            </a:r>
            <a:endParaRPr lang="en-US" sz="1100" dirty="0"/>
          </a:p>
        </p:txBody>
      </p:sp>
      <p:sp>
        <p:nvSpPr>
          <p:cNvPr id="34" name="Text 3"/>
          <p:cNvSpPr/>
          <p:nvPr/>
        </p:nvSpPr>
        <p:spPr>
          <a:xfrm>
            <a:off x="3291839" y="298136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5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Минус</a:t>
            </a:r>
            <a:endParaRPr lang="en-US" sz="1500" dirty="0"/>
          </a:p>
        </p:txBody>
      </p:sp>
      <p:sp>
        <p:nvSpPr>
          <p:cNvPr id="35" name="Text 3"/>
          <p:cNvSpPr/>
          <p:nvPr/>
        </p:nvSpPr>
        <p:spPr>
          <a:xfrm>
            <a:off x="6211600" y="1744427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6" name="Shape 9"/>
          <p:cNvSpPr/>
          <p:nvPr/>
        </p:nvSpPr>
        <p:spPr>
          <a:xfrm>
            <a:off x="6120160" y="1698291"/>
            <a:ext cx="2743200" cy="502920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37" name="Text 10"/>
          <p:cNvSpPr/>
          <p:nvPr/>
        </p:nvSpPr>
        <p:spPr>
          <a:xfrm>
            <a:off x="6211600" y="1734867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5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Нововведения</a:t>
            </a:r>
            <a:endParaRPr lang="en-US" sz="1500" dirty="0"/>
          </a:p>
        </p:txBody>
      </p:sp>
      <p:sp>
        <p:nvSpPr>
          <p:cNvPr id="39" name="Прямоугольник 38"/>
          <p:cNvSpPr/>
          <p:nvPr/>
        </p:nvSpPr>
        <p:spPr>
          <a:xfrm>
            <a:off x="6375365" y="3512966"/>
            <a:ext cx="235050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sz="110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Систематическое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завышение</a:t>
            </a:r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 </a:t>
            </a:r>
          </a:p>
          <a:p>
            <a:pPr>
              <a:buSzPct val="100000"/>
            </a:pPr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минимизировано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</a:t>
            </a:r>
            <a:endParaRPr lang="ru-RU" sz="1100" dirty="0" smtClean="0">
              <a:solidFill>
                <a:srgbClr val="1A25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en-US" sz="1100" dirty="0"/>
          </a:p>
        </p:txBody>
      </p:sp>
      <p:sp>
        <p:nvSpPr>
          <p:cNvPr id="40" name="Shape 16"/>
          <p:cNvSpPr/>
          <p:nvPr/>
        </p:nvSpPr>
        <p:spPr>
          <a:xfrm>
            <a:off x="6135624" y="2943951"/>
            <a:ext cx="2743200" cy="502920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41" name="Text 17"/>
          <p:cNvSpPr/>
          <p:nvPr/>
        </p:nvSpPr>
        <p:spPr>
          <a:xfrm>
            <a:off x="6227064" y="2980527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584947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наград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411613"/>
              </p:ext>
            </p:extLst>
          </p:nvPr>
        </p:nvGraphicFramePr>
        <p:xfrm>
          <a:off x="320040" y="804672"/>
          <a:ext cx="5029200" cy="384048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6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Событие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Награда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6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Каждый шаг (штраф за время)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6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Убийство врага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+3,0 за каждого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6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Атака без убийства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Урон игроку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−10,0 × (hpLost / MaxHP)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6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Смерть игрока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−25,0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5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BFS-шейпинг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±0,5 × (prev_dist − curr_dist)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16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Победа — выход найден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532120" y="804672"/>
            <a:ext cx="32918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669280" y="896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решения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0" y="1353312"/>
            <a:ext cx="3017520" cy="13716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7" name="Text 4"/>
          <p:cNvSpPr/>
          <p:nvPr/>
        </p:nvSpPr>
        <p:spPr>
          <a:xfrm>
            <a:off x="5760720" y="141732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 урона по %HP
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10% HP = –1,0 всегда,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независимо от фазы (MaxHP: 15→75)</a:t>
            </a:r>
            <a:endParaRPr lang="en-US" sz="1200" dirty="0"/>
          </a:p>
        </p:txBody>
      </p:sp>
      <p:sp>
        <p:nvSpPr>
          <p:cNvPr id="3" name="Shape 5"/>
          <p:cNvSpPr/>
          <p:nvPr/>
        </p:nvSpPr>
        <p:spPr>
          <a:xfrm>
            <a:off x="5669280" y="2834640"/>
            <a:ext cx="3017520" cy="155448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2898648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anti-farming
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наград по любому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замкнутому маршруту = 0.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Накрутка очков невозможна.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94925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7"/>
          <p:cNvSpPr/>
          <p:nvPr/>
        </p:nvSpPr>
        <p:spPr>
          <a:xfrm>
            <a:off x="3944387" y="1390243"/>
            <a:ext cx="4688810" cy="103355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411481" y="43891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600" b="1" dirty="0" smtClean="0"/>
              <a:t>Детектор стагнации </a:t>
            </a:r>
            <a:endParaRPr lang="en-US" sz="2600" b="1" dirty="0"/>
          </a:p>
        </p:txBody>
      </p:sp>
      <p:sp>
        <p:nvSpPr>
          <p:cNvPr id="19" name="Shape 17"/>
          <p:cNvSpPr/>
          <p:nvPr/>
        </p:nvSpPr>
        <p:spPr>
          <a:xfrm>
            <a:off x="411481" y="1385078"/>
            <a:ext cx="3337559" cy="28944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6828" y="1401702"/>
            <a:ext cx="2801391" cy="1428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Основная проблема:</a:t>
            </a:r>
          </a:p>
          <a:p>
            <a:pPr marL="0" indent="0">
              <a:buNone/>
            </a:pPr>
            <a:endParaRPr lang="ru-RU" sz="1400" dirty="0">
              <a:solidFill>
                <a:srgbClr val="1A2540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ru-RU" sz="1400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Модель слишком рано завершает обучение и не выходит на пороговый </a:t>
            </a:r>
            <a:r>
              <a:rPr lang="en-US" sz="1400" dirty="0" err="1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win_rate</a:t>
            </a:r>
            <a:r>
              <a:rPr lang="en-US" sz="1400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ru-RU" sz="1400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для перехода на следующий этап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06829" y="2709571"/>
            <a:ext cx="2801390" cy="1428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Решение:</a:t>
            </a:r>
          </a:p>
          <a:p>
            <a:pPr marL="0" indent="0">
              <a:buNone/>
            </a:pPr>
            <a:r>
              <a:rPr lang="ru-RU" sz="1400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Анализировать </a:t>
            </a:r>
            <a:r>
              <a:rPr lang="en-US" sz="1400" dirty="0" err="1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win_rate</a:t>
            </a:r>
            <a:r>
              <a:rPr lang="en-US" sz="1400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ru-RU" sz="1400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и при стагнации или падение целенаправленно завышать </a:t>
            </a:r>
            <a:r>
              <a:rPr lang="en-US" sz="1400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eps</a:t>
            </a:r>
            <a:r>
              <a:rPr lang="ru-RU" sz="1400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ru-RU" sz="1400" dirty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(</a:t>
            </a:r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шанс случайного выбора действия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)</a:t>
            </a:r>
            <a:r>
              <a:rPr lang="ru-RU" sz="1400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191691" y="1385078"/>
            <a:ext cx="3719948" cy="955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Результат:</a:t>
            </a:r>
          </a:p>
          <a:p>
            <a:pPr marL="0" indent="0">
              <a:buNone/>
            </a:pPr>
            <a:endParaRPr lang="ru-RU" sz="1400" dirty="0">
              <a:solidFill>
                <a:srgbClr val="1A2540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ru-RU" sz="1400" dirty="0" smtClean="0"/>
              <a:t>Модель возобновляет обучение при стагнации </a:t>
            </a:r>
            <a:endParaRPr lang="en-US" sz="1400" dirty="0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939" y="2641587"/>
            <a:ext cx="2430642" cy="2076844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581" y="2641587"/>
            <a:ext cx="2406939" cy="207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38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600" b="1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Поэтапное</a:t>
            </a:r>
            <a:r>
              <a:rPr lang="en-US" sz="2600" b="1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— </a:t>
            </a:r>
            <a:r>
              <a:rPr lang="ru-RU" sz="2600" b="1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2600" b="1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835616"/>
              </p:ext>
            </p:extLst>
          </p:nvPr>
        </p:nvGraphicFramePr>
        <p:xfrm>
          <a:off x="320040" y="804668"/>
          <a:ext cx="5120640" cy="3840487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Фаза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Враги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Порог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18×18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20×20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24×24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32×32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623560" y="804672"/>
            <a:ext cx="32004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760720" y="896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переходе фазы: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760720" y="1389888"/>
            <a:ext cx="475488" cy="685800"/>
          </a:xfrm>
          <a:prstGeom prst="rect">
            <a:avLst/>
          </a:prstGeom>
          <a:solidFill>
            <a:srgbClr val="E57373"/>
          </a:solidFill>
          <a:ln/>
        </p:spPr>
      </p:sp>
      <p:sp>
        <p:nvSpPr>
          <p:cNvPr id="7" name="Text 4"/>
          <p:cNvSpPr/>
          <p:nvPr/>
        </p:nvSpPr>
        <p:spPr>
          <a:xfrm>
            <a:off x="5760720" y="148132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327648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 буфера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переходов старой карты</a:t>
            </a:r>
            <a:endParaRPr lang="en-US" sz="1200" dirty="0"/>
          </a:p>
        </p:txBody>
      </p:sp>
      <p:sp>
        <p:nvSpPr>
          <p:cNvPr id="3" name="Shape 6"/>
          <p:cNvSpPr/>
          <p:nvPr/>
        </p:nvSpPr>
        <p:spPr>
          <a:xfrm>
            <a:off x="5760720" y="2441448"/>
            <a:ext cx="475488" cy="685800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10" name="Text 7"/>
          <p:cNvSpPr/>
          <p:nvPr/>
        </p:nvSpPr>
        <p:spPr>
          <a:xfrm>
            <a:off x="5760720" y="253288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327648" y="2514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Сброс epsilon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= max(0.30; eps × 2.0)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60720" y="3493008"/>
            <a:ext cx="475488" cy="68580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3" name="Text 10"/>
          <p:cNvSpPr/>
          <p:nvPr/>
        </p:nvSpPr>
        <p:spPr>
          <a:xfrm>
            <a:off x="5760720" y="358444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327648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 win_rate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свежего расчёта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55455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Серия</a:t>
            </a: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экспериментов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22960"/>
            <a:ext cx="54864" cy="1828800"/>
          </a:xfrm>
          <a:prstGeom prst="rect">
            <a:avLst/>
          </a:prstGeom>
          <a:solidFill>
            <a:srgbClr val="E57373"/>
          </a:solidFill>
          <a:ln/>
        </p:spPr>
      </p:sp>
      <p:sp>
        <p:nvSpPr>
          <p:cNvPr id="5" name="Text 3"/>
          <p:cNvSpPr/>
          <p:nvPr/>
        </p:nvSpPr>
        <p:spPr>
          <a:xfrm>
            <a:off x="476319" y="914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 smtClean="0">
                <a:solidFill>
                  <a:srgbClr val="E57373"/>
                </a:solidFill>
                <a:latin typeface="Calibri" pitchFamily="34" charset="0"/>
                <a:cs typeface="Calibri" pitchFamily="34" charset="-120"/>
              </a:rPr>
              <a:t>Шаг</a:t>
            </a:r>
            <a:r>
              <a:rPr lang="en-US" sz="1400" b="1" dirty="0" smtClean="0">
                <a:solidFill>
                  <a:srgbClr val="E57373"/>
                </a:solidFill>
                <a:latin typeface="Calibri" pitchFamily="34" charset="0"/>
                <a:cs typeface="Calibri" pitchFamily="34" charset="-120"/>
              </a:rPr>
              <a:t>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" y="1325880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Нет поэтапного обучения, был выявлен критический баг неправильного расчета побед, не сбалансированные награды, сеть не вышла на положительный </a:t>
            </a:r>
            <a:r>
              <a:rPr lang="en-US" sz="110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win_rate</a:t>
            </a:r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100" dirty="0" smtClean="0"/>
          </a:p>
        </p:txBody>
      </p:sp>
      <p:sp>
        <p:nvSpPr>
          <p:cNvPr id="7" name="Shape 5"/>
          <p:cNvSpPr/>
          <p:nvPr/>
        </p:nvSpPr>
        <p:spPr>
          <a:xfrm>
            <a:off x="3264408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64408" y="822960"/>
            <a:ext cx="54864" cy="182880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914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 smtClean="0">
                <a:solidFill>
                  <a:srgbClr val="FFB74D"/>
                </a:solidFill>
                <a:latin typeface="Calibri" pitchFamily="34" charset="0"/>
                <a:cs typeface="Calibri" pitchFamily="34" charset="-120"/>
              </a:rPr>
              <a:t>Шаг</a:t>
            </a:r>
            <a:r>
              <a:rPr lang="en-US" sz="1400" b="1" dirty="0" smtClean="0">
                <a:solidFill>
                  <a:srgbClr val="FFB74D"/>
                </a:solidFill>
                <a:latin typeface="Calibri" pitchFamily="34" charset="0"/>
                <a:cs typeface="Calibri" pitchFamily="34" charset="-120"/>
              </a:rPr>
              <a:t>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325880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100" dirty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Созданы </a:t>
            </a:r>
            <a:r>
              <a:rPr lang="ru-RU" sz="1100" dirty="0" err="1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курикулумы</a:t>
            </a:r>
            <a:endParaRPr lang="ru-RU" sz="1100" dirty="0">
              <a:solidFill>
                <a:srgbClr val="1A2540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Были подобраны более оптимальное вознаграждения  </a:t>
            </a:r>
          </a:p>
          <a:p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Был создан детектор стагнации 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17336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08776" y="822960"/>
            <a:ext cx="54864" cy="182880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914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 smtClean="0">
                <a:solidFill>
                  <a:srgbClr val="FFB74D"/>
                </a:solidFill>
                <a:latin typeface="Calibri" pitchFamily="34" charset="0"/>
                <a:cs typeface="Calibri" pitchFamily="34" charset="-120"/>
              </a:rPr>
              <a:t>Шаг</a:t>
            </a:r>
            <a:r>
              <a:rPr lang="en-US" sz="1400" b="1" dirty="0" smtClean="0">
                <a:solidFill>
                  <a:srgbClr val="FFB74D"/>
                </a:solidFill>
                <a:latin typeface="Calibri" pitchFamily="34" charset="0"/>
                <a:cs typeface="Calibri" pitchFamily="34" charset="-120"/>
              </a:rPr>
              <a:t>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73368" y="1325880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Выявлено что через мерное исследование при обучении приводит к дестабили</a:t>
            </a:r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зации модели</a:t>
            </a:r>
            <a:endParaRPr lang="ru-RU" sz="1100" dirty="0" smtClean="0">
              <a:solidFill>
                <a:srgbClr val="1A25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 </a:t>
            </a: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80360"/>
            <a:ext cx="54864" cy="182880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 smtClean="0">
                <a:solidFill>
                  <a:srgbClr val="FFB74D"/>
                </a:solidFill>
                <a:latin typeface="Calibri" pitchFamily="34" charset="0"/>
                <a:cs typeface="Calibri" pitchFamily="34" charset="-120"/>
              </a:rPr>
              <a:t>Шаг</a:t>
            </a:r>
            <a:r>
              <a:rPr lang="en-US" sz="1400" b="1" dirty="0" smtClean="0">
                <a:solidFill>
                  <a:srgbClr val="FFB74D"/>
                </a:solidFill>
                <a:latin typeface="Calibri" pitchFamily="34" charset="0"/>
                <a:cs typeface="Calibri" pitchFamily="34" charset="-120"/>
              </a:rPr>
              <a:t> 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" y="3383280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становиться в моменте слишком сложной что сводило смысл высоких порогов в </a:t>
            </a:r>
            <a:r>
              <a:rPr lang="ru-RU" sz="1100" dirty="0" err="1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курикулумах</a:t>
            </a:r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 к минимуму</a:t>
            </a:r>
            <a:endParaRPr lang="ru-RU" sz="1100" dirty="0" smtClean="0">
              <a:solidFill>
                <a:srgbClr val="1A25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изменены на </a:t>
            </a: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50/45/40/35/30/25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64408" y="28803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2880360"/>
            <a:ext cx="54864" cy="18288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 smtClean="0">
                <a:solidFill>
                  <a:srgbClr val="4FC3F7"/>
                </a:solidFill>
                <a:latin typeface="Calibri" pitchFamily="34" charset="0"/>
                <a:cs typeface="Calibri" pitchFamily="34" charset="-120"/>
              </a:rPr>
              <a:t>Шаг</a:t>
            </a:r>
            <a:r>
              <a:rPr lang="en-US" sz="1400" b="1" dirty="0" smtClean="0">
                <a:solidFill>
                  <a:srgbClr val="4FC3F7"/>
                </a:solidFill>
                <a:latin typeface="Calibri" pitchFamily="34" charset="0"/>
                <a:cs typeface="Calibri" pitchFamily="34" charset="-120"/>
              </a:rPr>
              <a:t> 5</a:t>
            </a:r>
            <a:r>
              <a:rPr lang="ru-RU" sz="1400" b="1" dirty="0" smtClean="0">
                <a:solidFill>
                  <a:srgbClr val="4FC3F7"/>
                </a:solidFill>
                <a:latin typeface="Calibri" pitchFamily="34" charset="0"/>
                <a:cs typeface="Calibri" pitchFamily="34" charset="-120"/>
              </a:rPr>
              <a:t>.1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3383280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алгоритмов: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деградирует из 14% → 9%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61 000 </a:t>
            </a: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</a:t>
            </a:r>
            <a:endParaRPr lang="ru-RU" sz="1100" dirty="0" smtClean="0">
              <a:solidFill>
                <a:srgbClr val="1A25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08776" y="2880360"/>
            <a:ext cx="2743200" cy="182880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08776" y="2880360"/>
            <a:ext cx="54864" cy="182880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 smtClean="0">
                <a:solidFill>
                  <a:srgbClr val="4FC3F7"/>
                </a:solidFill>
                <a:latin typeface="Calibri" pitchFamily="34" charset="0"/>
                <a:cs typeface="Calibri" pitchFamily="34" charset="-120"/>
              </a:rPr>
              <a:t>Шаг</a:t>
            </a:r>
            <a:r>
              <a:rPr lang="en-US" sz="1400" b="1" dirty="0" smtClean="0">
                <a:solidFill>
                  <a:srgbClr val="4FC3F7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ru-RU" sz="1400" b="1" dirty="0" smtClean="0">
                <a:solidFill>
                  <a:srgbClr val="4FC3F7"/>
                </a:solidFill>
                <a:latin typeface="Calibri" pitchFamily="34" charset="0"/>
                <a:cs typeface="Calibri" pitchFamily="34" charset="-120"/>
              </a:rPr>
              <a:t>5.2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73368" y="3383280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DQN:</a:t>
            </a:r>
            <a:r>
              <a:rPr lang="ru-RU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прошёл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изодов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ru-RU" sz="1100" dirty="0" smtClean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ru-RU" sz="1100" dirty="0" smtClean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DDQN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ru-RU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прошёл </a:t>
            </a: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фаз за 12 512 </a:t>
            </a: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</a:t>
            </a:r>
            <a:r>
              <a:rPr lang="ru-RU" sz="11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изодов</a:t>
            </a:r>
            <a:r>
              <a:rPr lang="ru-RU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49010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— Double DQN (step3)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2743200" cy="173736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503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12 512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эпизодов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DDQN прошёл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6 фаз курикулума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27832" y="804672"/>
            <a:ext cx="2743200" cy="173736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9272" y="8503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19272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19272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DDQN прогрессировал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все фазы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35624" y="804672"/>
            <a:ext cx="2743200" cy="173736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27064" y="8503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4000" b="1" dirty="0" smtClean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0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6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27064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27064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Q-Learning: застрял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фазе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633472"/>
            <a:ext cx="850392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7249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Двухстадийная динамика фазы 6 (64×64)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/>
          </p:nvPr>
        </p:nvGraphicFramePr>
        <p:xfrm>
          <a:off x="457200" y="3154680"/>
          <a:ext cx="8321040" cy="14630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Стадия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Смерти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Таймауты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Вывод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Высокий ε (исследование)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умеет выживать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Низкий ε (эксплуатация)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8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Выживает, но теряет выход на 64×64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0486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применение Double DQN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2623497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04672"/>
            <a:ext cx="2623497" cy="6400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941832"/>
            <a:ext cx="24203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Игровой ИИ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335024"/>
            <a:ext cx="24203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адаптивным поведением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Автобалансировка roguelike-карт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4408" y="804672"/>
            <a:ext cx="2623497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64408" y="804672"/>
            <a:ext cx="2623497" cy="64008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9" name="Text 7"/>
          <p:cNvSpPr/>
          <p:nvPr/>
        </p:nvSpPr>
        <p:spPr>
          <a:xfrm>
            <a:off x="3374136" y="941832"/>
            <a:ext cx="24203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Робототехника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74136" y="1335024"/>
            <a:ext cx="24203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манипуляторами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Маршруты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роботов-сортировщиков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54496" y="804672"/>
            <a:ext cx="2623497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54496" y="804672"/>
            <a:ext cx="2623497" cy="64008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3" name="Text 11"/>
          <p:cNvSpPr/>
          <p:nvPr/>
        </p:nvSpPr>
        <p:spPr>
          <a:xfrm>
            <a:off x="6364224" y="941832"/>
            <a:ext cx="24203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Сети и ЦОД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4224" y="1335024"/>
            <a:ext cx="24203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Маршрутизация пакетов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 задач </a:t>
            </a:r>
            <a:r>
              <a:rPr lang="en-US" sz="110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серверах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16352"/>
            <a:ext cx="2623497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16352"/>
            <a:ext cx="2623497" cy="64008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953512"/>
            <a:ext cx="24203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" y="3346704"/>
            <a:ext cx="24203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Решения: купить / продать / держать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на исторических данных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 к шумным сигналам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64408" y="2816352"/>
            <a:ext cx="2623497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2816352"/>
            <a:ext cx="2623497" cy="64008"/>
          </a:xfrm>
          <a:prstGeom prst="rect">
            <a:avLst/>
          </a:prstGeom>
          <a:solidFill>
            <a:srgbClr val="F48FB1"/>
          </a:solidFill>
          <a:ln/>
        </p:spPr>
      </p:sp>
      <p:sp>
        <p:nvSpPr>
          <p:cNvPr id="21" name="Text 19"/>
          <p:cNvSpPr/>
          <p:nvPr/>
        </p:nvSpPr>
        <p:spPr>
          <a:xfrm>
            <a:off x="3374136" y="2953512"/>
            <a:ext cx="24203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74136" y="3346704"/>
            <a:ext cx="24203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Стратегии лечения хронических болезней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Радиационная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терапия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биомаркеров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54496" y="2816352"/>
            <a:ext cx="2623497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54496" y="2816352"/>
            <a:ext cx="2623497" cy="64008"/>
          </a:xfrm>
          <a:prstGeom prst="rect">
            <a:avLst/>
          </a:prstGeom>
          <a:solidFill>
            <a:srgbClr val="80DEEA"/>
          </a:solidFill>
          <a:ln/>
        </p:spPr>
      </p:sp>
      <p:sp>
        <p:nvSpPr>
          <p:cNvPr id="25" name="Text 23"/>
          <p:cNvSpPr/>
          <p:nvPr/>
        </p:nvSpPr>
        <p:spPr>
          <a:xfrm>
            <a:off x="6364224" y="2953512"/>
            <a:ext cx="24203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Кибербезопасность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64224" y="3346704"/>
            <a:ext cx="24203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тестирование (pentest)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Адаптивная защита от атак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Исследование топологии сети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97716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480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389887"/>
            <a:ext cx="502920" cy="810491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35607"/>
            <a:ext cx="502920" cy="70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87552" y="1389888"/>
            <a:ext cx="7772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категорически непригоден: без буфера воспроизведения катастрофическое забывание не позволяет пройти даже фазу 0 (навигация без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врагов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r>
              <a:rPr lang="ru-RU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DDQN -</a:t>
            </a:r>
            <a:r>
              <a:rPr lang="ru-RU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показал наилучший результат </a:t>
            </a:r>
            <a:r>
              <a:rPr lang="ru-RU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недетерминированной </a:t>
            </a:r>
            <a:r>
              <a:rPr lang="ru-RU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39"/>
            <a:ext cx="502920" cy="810491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423159"/>
            <a:ext cx="502920" cy="70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552" y="2377440"/>
            <a:ext cx="7772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Промежуточные фазы курикулума критичны. Прямой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размера карты с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16x16</a:t>
            </a:r>
            <a:r>
              <a:rPr lang="ru-RU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20x20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 win_rate 4,4%; добавление фазы 18×18 —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15,3%</a:t>
            </a:r>
            <a:r>
              <a:rPr lang="ru-RU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 при смене фазы обязательна.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364991"/>
            <a:ext cx="502920" cy="810491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410711"/>
            <a:ext cx="502920" cy="70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552" y="3364992"/>
            <a:ext cx="7772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Медленный EPS_DECAY=0,9998 продлил период исследования с ~4600 до ~13 000 эп, предотвратив преждевременную конвергенцию на субоптимальную политику.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Words>1050</Words>
  <Application>Microsoft Office PowerPoint</Application>
  <PresentationFormat>Экран (16:9)</PresentationFormat>
  <Paragraphs>272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DungeonRL: Разработка DQN-агента</dc:title>
  <dc:subject>PptxGenJS Presentation</dc:subject>
  <dc:creator>PptxGenJS</dc:creator>
  <cp:lastModifiedBy>1 1</cp:lastModifiedBy>
  <cp:revision>14</cp:revision>
  <dcterms:created xsi:type="dcterms:W3CDTF">2026-05-18T15:11:17Z</dcterms:created>
  <dcterms:modified xsi:type="dcterms:W3CDTF">2026-05-18T17:50:43Z</dcterms:modified>
</cp:coreProperties>
</file>