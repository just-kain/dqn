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5"/>
  </p:notesMasterIdLst>
  <p:sldIdLst>
    <p:sldId id="256" r:id="rId2"/>
    <p:sldId id="269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3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02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08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3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5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3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9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23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43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02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78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2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100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1221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764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014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9267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4309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75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278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1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65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5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91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DDQN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агента</a:t>
            </a:r>
            <a:r>
              <a:rPr lang="en-US" sz="2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прохождения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процедурно-генерируемых подземелий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Мигачев И.П.  |  МГУ им. Н.П. Огарёва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2900" y="859536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Прорыв DQN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DeepMind: 49/57 игр Atari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человека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41248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 DDQN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Устранение overestimation bias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max → double trick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841248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8961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3800" b="1" dirty="0" smtClean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7220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Курикулум проекта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0391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16×16 без врагов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×32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финальной карты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8503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26080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работы:  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методы обучения с подкреплением (Q-Learning, DQN, Double DQN) и применить их для создания агента, способного проходить процедурно-генерируемые подземелья. Исследовать влияние курикулумного обучения, формы наград и стратегии исследования на сходимость и качество обученной политики.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0416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39" y="822960"/>
            <a:ext cx="4128207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657600" cy="177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ru-RU" sz="11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или обучение с 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подкреплением 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это метод машинного обучения, при котором компьютерная программа (агент) обучается самостоятельно решать задачу методом проб и ошибок, взаимодействуя с динамической средой. Программа получает награду за правильные действия и штраф за ошибки, стремясь максимизировать суммарный доход.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505842" y="2657775"/>
            <a:ext cx="3560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RL лежат три ключевых элемента: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685801" y="3060488"/>
            <a:ext cx="3560316" cy="131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(</a:t>
            </a:r>
            <a:r>
              <a:rPr lang="ru-RU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ru-RU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ИИ, принимающий решения и совершающий действия</a:t>
            </a:r>
            <a:r>
              <a:rPr lang="ru-RU" sz="11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 smtClean="0">
              <a:solidFill>
                <a:srgbClr val="1A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Среда (</a:t>
            </a:r>
            <a:r>
              <a:rPr lang="ru-RU" sz="1100" dirty="0" err="1"/>
              <a:t>Environment</a:t>
            </a:r>
            <a:r>
              <a:rPr lang="ru-RU" sz="1100" dirty="0"/>
              <a:t>): Окружение, в котором находится агент и с которым он </a:t>
            </a:r>
            <a:r>
              <a:rPr lang="ru-RU" sz="1100" dirty="0" smtClean="0"/>
              <a:t>взаимодействует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Награда (</a:t>
            </a:r>
            <a:r>
              <a:rPr lang="ru-RU" sz="1100" dirty="0" err="1"/>
              <a:t>Reward</a:t>
            </a:r>
            <a:r>
              <a:rPr lang="ru-RU" sz="1100" dirty="0"/>
              <a:t>): Обратная связь от среды</a:t>
            </a:r>
            <a:endParaRPr lang="en-US" sz="1100" dirty="0"/>
          </a:p>
        </p:txBody>
      </p:sp>
      <p:pic>
        <p:nvPicPr>
          <p:cNvPr id="1026" name="Picture 2" descr="https://blog.skillfactory.ru/wp-content/uploads/2024/05/algoritm-rl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6" t="8669" r="12737" b="8382"/>
          <a:stretch/>
        </p:blipFill>
        <p:spPr bwMode="auto">
          <a:xfrm>
            <a:off x="4738380" y="1218283"/>
            <a:ext cx="4185613" cy="277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28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3566160" cy="374904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14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движок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 / SFML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BSP-генерация карт (16×16 → 64×64)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типа врагов: Walk / Fly / Crawl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BFS-шейпинг наград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AI-протокол: stdin/stdout JSON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Воспроизводимость по seed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50208" y="2468880"/>
            <a:ext cx="1243584" cy="54864"/>
          </a:xfrm>
          <a:prstGeom prst="rect">
            <a:avLst/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50208" y="2834640"/>
            <a:ext cx="1243584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9060" y="21945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</a:t>
            </a:r>
            <a:r>
              <a:rPr lang="en-US" sz="900" dirty="0" smtClean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13632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+ reward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841248"/>
            <a:ext cx="3566160" cy="374904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914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DQN-агент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PyTorch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719072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Нейросеть: 1157 → 512 → 256 → 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 (200 000 переходов)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/ DQN / Double DQN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Курикулумный менеджер (7 фаз)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стагнации (eps-bump)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3070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движок — BSP-карты и враги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карт (BSP)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Заполнение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пространства стенами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BSP-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разбиение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листовые секции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Вырезание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 внутри секций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Г-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образные</a:t>
            </a: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коридоры между соседями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выход → макс. удалённая точка → игрок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seed = одна карта (воспроизводимость)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838085"/>
            <a:ext cx="43891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врагов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Преследование: 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при прямой видимости (алгоритм Брезенхема)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врагов </a:t>
            </a: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дробная</a:t>
            </a: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аккумулятор энергии, движение на шаге, когда acc ≥ 1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852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 наблюдений и действий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OBS_SIZE = 1157 (float32)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1554480" cy="246888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155448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вид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33×33 клетки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вокруг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261872"/>
            <a:ext cx="1554480" cy="246888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261872"/>
            <a:ext cx="1554480" cy="64008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10312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Миникарта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7860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max-pool</a:t>
            </a:r>
            <a:endParaRPr lang="en-US" sz="1000" dirty="0"/>
          </a:p>
          <a:p>
            <a:pPr marL="0" indent="0" algn="ctr">
              <a:buNone/>
            </a:pPr>
            <a:r>
              <a:rPr lang="ru-RU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ыход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261872"/>
            <a:ext cx="1554480" cy="246888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261872"/>
            <a:ext cx="1554480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325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79476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257860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HP/MaxHP</a:t>
            </a:r>
            <a:endParaRPr lang="en-US" sz="1000" dirty="0"/>
          </a:p>
          <a:p>
            <a:pPr marL="0" indent="0" algn="ctr">
              <a:buNone/>
            </a:pPr>
            <a:r>
              <a:rPr lang="ru-RU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аги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выходу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804672"/>
            <a:ext cx="3291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896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400" b="1" dirty="0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действий агента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1353312"/>
            <a:ext cx="3063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  Движение (↑ ↓ ← →)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   Удар дугой (3 клетки)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   Выстрел </a:t>
            </a:r>
            <a:r>
              <a:rPr lang="en-US" sz="12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лучом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вперёд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607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обучения с подкреплением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04672"/>
            <a:ext cx="2743200" cy="50292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qlearn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691640"/>
            <a:ext cx="2542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буфера воспроизведения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целевой сети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после каждого шага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Нестабильные TD-цели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Катастрофическое забывание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Непригоден для задачи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r + γ · maxₐ Q(s′,a;θ)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43200" cy="50292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DQN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927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dqn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691640"/>
            <a:ext cx="2542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200K переходов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сеть (sync / 500 шагов)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r + γ · maxₐ Q_tgt(s′,a)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корреляций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Систематическое завышение Q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9272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Приемлемо, хуже DDQN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argmaxₐ Q_tgt(s′,a;θ⁻)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35624" y="804672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804672"/>
            <a:ext cx="2743200" cy="5029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84124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27064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--algo ddqn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5352" y="1691640"/>
            <a:ext cx="2542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200K переходов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сеть (sync / 500 шагов)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Online-сеть выбирает действие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Target-сеть оценивает ценность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Устранение overestimation bias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Рекомендуется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40233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= argmaxₐ Q_online(s′,a;θ)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8494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наград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/>
          </p:nvPr>
        </p:nvGraphicFramePr>
        <p:xfrm>
          <a:off x="320040" y="804672"/>
          <a:ext cx="5029200" cy="390144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Награда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Каждый шаг (штраф за время)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Убийство врага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+3,0 за каждого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Атака без убийства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 Idle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Урон игроку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−10,0 × (hpLost / MaxHP)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Смерть игрока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BFS-шейпинг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±0,5 × (prev_dist − curr_dist)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Победа — выход найден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804672"/>
            <a:ext cx="32918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896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решения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353312"/>
            <a:ext cx="3017520" cy="13716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4173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урона по %HP
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10% HP = –1,0 всегда,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 от фазы (MaxHP: 15→75)</a:t>
            </a:r>
            <a:endParaRPr lang="en-US" sz="1200" dirty="0"/>
          </a:p>
        </p:txBody>
      </p:sp>
      <p:sp>
        <p:nvSpPr>
          <p:cNvPr id="3" name="Shape 5"/>
          <p:cNvSpPr/>
          <p:nvPr/>
        </p:nvSpPr>
        <p:spPr>
          <a:xfrm>
            <a:off x="5669280" y="2834640"/>
            <a:ext cx="3017520" cy="1554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289864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anti-farming
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наград по любому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замкнутому маршруту =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Накрутка очков невозможна.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492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Курикулумное обучение — 7 фаз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/>
          </p:nvPr>
        </p:nvGraphicFramePr>
        <p:xfrm>
          <a:off x="320040" y="804672"/>
          <a:ext cx="5120640" cy="38404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Враги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18×18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64×64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финальная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804672"/>
            <a:ext cx="3200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896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переходе фазы: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389888"/>
            <a:ext cx="475488" cy="68580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48132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27648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буфера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переходов старой карты</a:t>
            </a:r>
            <a:endParaRPr lang="en-US" sz="1200" dirty="0"/>
          </a:p>
        </p:txBody>
      </p:sp>
      <p:sp>
        <p:nvSpPr>
          <p:cNvPr id="3" name="Shape 6"/>
          <p:cNvSpPr/>
          <p:nvPr/>
        </p:nvSpPr>
        <p:spPr>
          <a:xfrm>
            <a:off x="5760720" y="2441448"/>
            <a:ext cx="475488" cy="68580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25328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27648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 epsilon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max(0.30; eps × 2.0)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493008"/>
            <a:ext cx="475488" cy="68580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3" name="Text 10"/>
          <p:cNvSpPr/>
          <p:nvPr/>
        </p:nvSpPr>
        <p:spPr>
          <a:xfrm>
            <a:off x="5760720" y="358444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27648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win_rate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свежего расчёта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545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экспериментов — путь к стабильности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54864" cy="1828800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курикулума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добавлено 4 фазы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8229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fail1–2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Прыжок 16→20: win 4,4%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фаза 18×18: win 15,3% (+248%)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буфера при смене фазы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8776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8229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fail3–5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3368" y="13258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×4.0 дестабилизировал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снижен до ×2.0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182880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в Ph1 недостижимо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пороги 50/45/40/35/30/25%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8803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2880360"/>
            <a:ext cx="54864" cy="1828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step1–2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алгоритмов: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деградирует из 14% → 9%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61 000 эп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2880360"/>
            <a:ext cx="2743200" cy="182880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2880360"/>
            <a:ext cx="54864" cy="182880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338328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DDQN: все 6 фаз за 12 512 эп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 баг stag_history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901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— Double DQN (step3)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12 512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эпизодов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прошёл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фаз курикулума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27832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19272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927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прогрессировал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все фазы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35624" y="804672"/>
            <a:ext cx="2743200" cy="1737360"/>
          </a:xfrm>
          <a:prstGeom prst="rect">
            <a:avLst/>
          </a:prstGeom>
          <a:solidFill>
            <a:srgbClr val="0F1B35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8503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6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27064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Q-Learning: застрял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фазе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724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Двухстадийная динамика фазы 6 (64×64)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/>
          </p:nvPr>
        </p:nvGraphicFramePr>
        <p:xfrm>
          <a:off x="457200" y="3154680"/>
          <a:ext cx="8321040" cy="14630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Стадия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Смерти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Таймауты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 ε (исследование)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умеет выживать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Низкий ε (эксплуатация)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8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Выживает, но теряет выход на 64×64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486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применение Double DQN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04672"/>
            <a:ext cx="2834640" cy="640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941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33502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Atari: сверхчеловеческий уровень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с адаптивным поведением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Автобалансировка roguelike-карт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804672"/>
            <a:ext cx="2834640" cy="6400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9" name="Text 7"/>
          <p:cNvSpPr/>
          <p:nvPr/>
        </p:nvSpPr>
        <p:spPr>
          <a:xfrm>
            <a:off x="3374136" y="941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Робототехника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74136" y="133502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манипуляторами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Маршруты роботов-сортировщиков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Robotics: склады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80467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4496" y="804672"/>
            <a:ext cx="2834640" cy="64008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9418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и ЦОД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133502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пакетов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задач на серверах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−40% энергии охлаждения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16352"/>
            <a:ext cx="2834640" cy="64008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9535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34670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Решения: купить / продать / держать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исторических данных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 к шумным сигналам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2816352"/>
            <a:ext cx="2834640" cy="64008"/>
          </a:xfrm>
          <a:prstGeom prst="rect">
            <a:avLst/>
          </a:prstGeom>
          <a:solidFill>
            <a:srgbClr val="F48FB1"/>
          </a:solidFill>
          <a:ln/>
        </p:spPr>
      </p:sp>
      <p:sp>
        <p:nvSpPr>
          <p:cNvPr id="21" name="Text 19"/>
          <p:cNvSpPr/>
          <p:nvPr/>
        </p:nvSpPr>
        <p:spPr>
          <a:xfrm>
            <a:off x="3374136" y="29535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74136" y="334670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Стратегии лечения хронических болезней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Радиационная терапия (фракции)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биомаркеров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2816352"/>
            <a:ext cx="28346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54496" y="2816352"/>
            <a:ext cx="2834640" cy="64008"/>
          </a:xfrm>
          <a:prstGeom prst="rect">
            <a:avLst/>
          </a:prstGeom>
          <a:solidFill>
            <a:srgbClr val="80DEEA"/>
          </a:solidFill>
          <a:ln/>
        </p:spPr>
      </p:sp>
      <p:sp>
        <p:nvSpPr>
          <p:cNvPr id="25" name="Text 23"/>
          <p:cNvSpPr/>
          <p:nvPr/>
        </p:nvSpPr>
        <p:spPr>
          <a:xfrm>
            <a:off x="6364224" y="29535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Кибербезопасность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4224" y="3346704"/>
            <a:ext cx="2615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тестирование (pentest)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защита от атак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 топологии сети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771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" cy="6858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7552" y="9144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DDQN &gt; DQN &gt; Q-Learning. Q-Learning категорически непригоден: без буфера воспроизведения катастрофическое забывание не позволяет пройти даже фазу 0 (навигация без врагов).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502920" cy="68580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47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9019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Промежуточные фазы курикулума критичны. Прямой переход 16→20 дал win_rate 4,4%; добавление фазы 18×18 — 15,3% (+248%). Очистка replay buffer при смене фазы обязательна.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889504"/>
            <a:ext cx="502920" cy="68580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9352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288950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Медленный EPS_DECAY=0,9998 продлил период исследования с ~4600 до ~13 000 эп, предотвратив преждевременную конвергенцию на субоптимальную политику.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77056"/>
            <a:ext cx="502920" cy="68580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227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387705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 критический баг stag_history: механизм стагнации ни разу не срабатывал из-за ограничения deque(maxlen=200). Создан отдельный deque(maxlen=1000).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Дальнейшее развитие:  Dueling DQN  ·  Prioritized Experience Replay  ·  A3C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1036</Words>
  <Application>Microsoft Office PowerPoint</Application>
  <PresentationFormat>Экран (16:9)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DungeonRL: Разработка DQN-агента</dc:title>
  <dc:subject>PptxGenJS Presentation</dc:subject>
  <dc:creator>PptxGenJS</dc:creator>
  <cp:lastModifiedBy>1 1</cp:lastModifiedBy>
  <cp:revision>5</cp:revision>
  <dcterms:created xsi:type="dcterms:W3CDTF">2026-05-18T15:11:17Z</dcterms:created>
  <dcterms:modified xsi:type="dcterms:W3CDTF">2026-05-18T16:13:03Z</dcterms:modified>
</cp:coreProperties>
</file>